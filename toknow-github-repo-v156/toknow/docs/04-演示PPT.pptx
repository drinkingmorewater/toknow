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8C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868680" cy="868680"/>
          </a:xfrm>
          <a:prstGeom prst="roundRect">
            <a:avLst>
              <a:gd name="adj" fmla="val 20000"/>
            </a:avLst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03120"/>
            <a:ext cx="73152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200" b="1" i="0">
                <a:solidFill>
                  <a:srgbClr val="FFFFFF"/>
                </a:solidFill>
                <a:latin typeface="方正小标宋简体"/>
              </a:rPr>
              <a:t>抟知 ToKnow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34640"/>
            <a:ext cx="91440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9A876"/>
                </a:solidFill>
                <a:latin typeface="方正小标宋简体"/>
              </a:rPr>
              <a:t>基于办公小浣熊的个人知识资产化系统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611880"/>
            <a:ext cx="2286000" cy="36576"/>
          </a:xfrm>
          <a:prstGeom prst="rect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91440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FFFFFF"/>
                </a:solidFill>
                <a:latin typeface="方正小标宋简体"/>
              </a:rPr>
              <a:t>让每一条沉睡的收藏，重新拥有自己的形状。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526280"/>
            <a:ext cx="91440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9A8A7A"/>
                </a:solidFill>
                <a:latin typeface="Times New Roman"/>
              </a:rPr>
              <a:t>Shape your sparks into a 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A8A7A"/>
                </a:solidFill>
                <a:latin typeface="方正小标宋简体"/>
              </a:rPr>
              <a:t>Damia  ·  OPC 高手创造赛  ·  V15.6  ·  2026.06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9A8A7A"/>
                </a:solidFill>
                <a:latin typeface="方正小标宋简体"/>
              </a:rPr>
              <a:t>本作品基于办公小浣熊全程构建 · 0 行手写代码</a:t>
            </a:r>
          </a:p>
        </p:txBody>
      </p:sp>
      <p:pic>
        <p:nvPicPr>
          <p:cNvPr id="14" name="Picture 13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01 · 场景与痛点 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信息过载时代：我们正在喂养自己的"数字灰尘"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474720" cy="1280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6400" b="1" i="0">
                <a:solidFill>
                  <a:srgbClr val="B8654A"/>
                </a:solidFill>
                <a:latin typeface="Times New Roman"/>
              </a:rPr>
              <a:t>327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4747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3C33"/>
                </a:solidFill>
                <a:latin typeface="方正小标宋简体"/>
              </a:rPr>
              <a:t>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34747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浏览器收藏 · 平均沉睡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194560"/>
            <a:ext cx="3474720" cy="1280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6400" b="1" i="0">
                <a:solidFill>
                  <a:srgbClr val="B8654A"/>
                </a:solidFill>
                <a:latin typeface="Times New Roman"/>
              </a:rPr>
              <a:t>4,500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749039"/>
            <a:ext cx="34747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3C33"/>
                </a:solidFill>
                <a:latin typeface="方正小标宋简体"/>
              </a:rPr>
              <a:t>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480560"/>
            <a:ext cx="34747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相册截图 · 永远不再被翻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3474720" cy="1280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6400" b="1" i="0">
                <a:solidFill>
                  <a:srgbClr val="B8654A"/>
                </a:solidFill>
                <a:latin typeface="Times New Roman"/>
              </a:rPr>
              <a:t>103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49039"/>
            <a:ext cx="34747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4A3C33"/>
                </a:solidFill>
                <a:latin typeface="方正小标宋简体"/>
              </a:rPr>
              <a:t>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480560"/>
            <a:ext cx="34747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备忘录碎片 · 半句话被遗弃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1A1614"/>
                </a:solidFill>
                <a:latin typeface="方正小标宋简体"/>
              </a:rPr>
              <a:t>我们以为自己在收藏知识，其实只是在确认遗忘。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B8654A"/>
                </a:solidFill>
                <a:latin typeface="方正小标宋简体"/>
              </a:rPr>
              <a:t>——最贵的不是信息，而是无法激活的信息。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02 / 20</a:t>
            </a:r>
          </a:p>
        </p:txBody>
      </p:sp>
      <p:pic>
        <p:nvPicPr>
          <p:cNvPr id="21" name="Picture 20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01 · 场景与痛点 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精准用户｜三类共同体，一组共同痛点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57600" cy="292608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657600" cy="109728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6576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0" i="0">
                <a:solidFill>
                  <a:srgbClr val="1A1614"/>
                </a:solidFill>
                <a:latin typeface="方正小标宋简体"/>
              </a:rP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36576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1A1614"/>
                </a:solidFill>
                <a:latin typeface="方正小标宋简体"/>
              </a:rPr>
              <a:t>科研工作者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9A8A7A"/>
                </a:solidFill>
                <a:latin typeface="方正小标宋简体"/>
              </a:rPr>
              <a:t>硕博生 · 青年学者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310896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把日常素材沉淀为论文选题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657600" cy="292608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657600" cy="109728"/>
          </a:xfrm>
          <a:prstGeom prst="rect">
            <a:avLst/>
          </a:prstGeom>
          <a:solidFill>
            <a:srgbClr val="8C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36576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0" i="0">
                <a:solidFill>
                  <a:srgbClr val="1A1614"/>
                </a:solidFill>
                <a:latin typeface="方正小标宋简体"/>
              </a:rPr>
              <a:t>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06040"/>
            <a:ext cx="36576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1A1614"/>
                </a:solidFill>
                <a:latin typeface="方正小标宋简体"/>
              </a:rPr>
              <a:t>内容创作者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108960"/>
            <a:ext cx="36576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9A8A7A"/>
                </a:solidFill>
                <a:latin typeface="方正小标宋简体"/>
              </a:rPr>
              <a:t>公众号·小红书·B站·小宇宙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794760"/>
            <a:ext cx="310896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持续供给可发布的选题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554480"/>
            <a:ext cx="3657600" cy="292608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1554480"/>
            <a:ext cx="3657600" cy="109728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28800"/>
            <a:ext cx="36576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0" i="0">
                <a:solidFill>
                  <a:srgbClr val="1A1614"/>
                </a:solidFill>
                <a:latin typeface="方正小标宋简体"/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36576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1A1614"/>
                </a:solidFill>
                <a:latin typeface="方正小标宋简体"/>
              </a:rPr>
              <a:t>高灵感人群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108960"/>
            <a:ext cx="36576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9A8A7A"/>
                </a:solidFill>
                <a:latin typeface="方正小标宋简体"/>
              </a:rPr>
              <a:t>策展人·PM·设计师·咨询师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794760"/>
            <a:ext cx="310896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把零散观察体系化为作品集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80"/>
            <a:ext cx="10698480" cy="169164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6350">
            <a:solidFill>
              <a:srgbClr val="B8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8C4A35"/>
                </a:solidFill>
                <a:latin typeface="方正小标宋简体"/>
              </a:rPr>
              <a:t>他们的共同处境：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A1614"/>
                </a:solidFill>
                <a:latin typeface="方正小标宋简体"/>
              </a:rPr>
              <a:t>信息入口太分散 · 收藏之后缺乏再加工 · 无法形成个人知识画像 · 灵感难以转化为成果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B8654A"/>
                </a:solidFill>
                <a:latin typeface="方正小标宋简体"/>
              </a:rPr>
              <a:t>"收藏 = 遗忘"——是这一代人的隐疾。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03 / 20</a:t>
            </a:r>
          </a:p>
        </p:txBody>
      </p:sp>
      <p:pic>
        <p:nvPicPr>
          <p:cNvPr id="29" name="Picture 28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01 · 场景与痛点 (Why)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传统方案的局限｜没有产品在做"激活"这件事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4A3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方正小标宋简体"/>
              </a:rPr>
              <a:t>维度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55448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4A3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627632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方正小标宋简体"/>
              </a:rPr>
              <a:t>Notion / Obsidian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155448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4A3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627632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方正小标宋简体"/>
              </a:rPr>
              <a:t>ChatGPT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554480"/>
            <a:ext cx="2194560" cy="502920"/>
          </a:xfrm>
          <a:prstGeom prst="roundRect">
            <a:avLst>
              <a:gd name="adj" fmla="val 5000"/>
            </a:avLst>
          </a:prstGeom>
          <a:solidFill>
            <a:srgbClr val="4A3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627632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方正小标宋简体"/>
              </a:rPr>
              <a:t>Roam Research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55448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8C4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627632"/>
            <a:ext cx="2286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方正小标宋简体"/>
              </a:rPr>
              <a:t>抟知 ToKnow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10312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210312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219456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记录导向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79" y="210312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79" y="219456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公共信息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210312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19456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笔记图谱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103120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194560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激活导向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606039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697479"/>
            <a:ext cx="1828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AI 角色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2606039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2697479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后置辅助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79" y="2606039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79" y="2697479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无个人语境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2606039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2697479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2606039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697479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前置联想引擎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10896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200400"/>
            <a:ext cx="1828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输出形态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310896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320040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笔记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79" y="310896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79" y="320040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通用回答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49440" y="310896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20040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双向链接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3108960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3200400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可发表成稿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361188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真实性约束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60320" y="36118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370332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用户自负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79" y="36118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79" y="370332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易幻觉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49440" y="361188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370332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用户自负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3611880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0" y="3703320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强约束·禁止虚构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411480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文化锚点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60320" y="411480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0" y="420624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工具感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79" y="411480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79" y="420624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工具感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49440" y="411480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420624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工具感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0" y="4114800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0" y="4206240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女娲抟土造人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1520" y="4617720"/>
            <a:ext cx="182880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709160"/>
            <a:ext cx="1828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上手成本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560320" y="461772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60320" y="470916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1 周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54879" y="461772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79" y="470916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949440" y="4617720"/>
            <a:ext cx="2194560" cy="4572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49440" y="4709160"/>
            <a:ext cx="21945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2 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44000" y="4617720"/>
            <a:ext cx="2286000" cy="457200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0" y="4709160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3 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9A8A7A"/>
                </a:solidFill>
                <a:latin typeface="方正小标宋简体"/>
              </a:rPr>
              <a:t>从"收藏"到"知识资产"的最后一公里——市面上没有产品在认真做。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04 / 20</a:t>
            </a:r>
          </a:p>
        </p:txBody>
      </p:sp>
      <p:pic>
        <p:nvPicPr>
          <p:cNvPr id="78" name="Picture 77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02 · 解决方案与实操 (How) — 核心评审项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产品定位｜抟，是"复活"的动作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36576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1">
                <a:solidFill>
                  <a:srgbClr val="9A8A7A"/>
                </a:solidFill>
                <a:latin typeface="方正小标宋简体"/>
              </a:rPr>
              <a:t>一捧散泥</a:t>
            </a:r>
          </a:p>
        </p:txBody>
      </p:sp>
      <p:sp>
        <p:nvSpPr>
          <p:cNvPr id="7" name="Oval 6"/>
          <p:cNvSpPr/>
          <p:nvPr/>
        </p:nvSpPr>
        <p:spPr>
          <a:xfrm>
            <a:off x="1613702" y="2482673"/>
            <a:ext cx="224113" cy="224113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07807" y="2517881"/>
            <a:ext cx="198030" cy="198030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45246" y="2515279"/>
            <a:ext cx="168020" cy="168020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4025" y="2475267"/>
            <a:ext cx="172886" cy="172886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2436" y="2544487"/>
            <a:ext cx="175912" cy="175912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95305" y="2937732"/>
            <a:ext cx="251250" cy="251250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00100" y="2916632"/>
            <a:ext cx="253860" cy="253860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43159" y="2958858"/>
            <a:ext cx="191073" cy="191073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1101" y="2891130"/>
            <a:ext cx="192799" cy="192799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64053" y="2896885"/>
            <a:ext cx="217773" cy="217773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71324" y="3325892"/>
            <a:ext cx="214677" cy="214677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06042" y="3297289"/>
            <a:ext cx="183424" cy="183424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59071" y="3330939"/>
            <a:ext cx="193317" cy="193317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81807" y="3333279"/>
            <a:ext cx="192002" cy="192002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60076" y="3355756"/>
            <a:ext cx="186912" cy="186912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59530" y="3751343"/>
            <a:ext cx="244614" cy="244614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27960" y="3729649"/>
            <a:ext cx="254219" cy="254219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856231" y="3741553"/>
            <a:ext cx="233824" cy="233824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02514" y="3748030"/>
            <a:ext cx="168177" cy="168177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37003" y="3773232"/>
            <a:ext cx="216989" cy="216989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572000"/>
            <a:ext cx="36576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B8654A"/>
                </a:solidFill>
                <a:latin typeface="方正小标宋简体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29200"/>
            <a:ext cx="36576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1A1614"/>
                </a:solidFill>
                <a:latin typeface="方正小标宋简体"/>
              </a:rPr>
              <a:t>一个完整的"知识自我"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691640"/>
            <a:ext cx="530352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9A8A7A"/>
                </a:solidFill>
                <a:latin typeface="方正小标宋简体"/>
              </a:rPr>
              <a:t>《风俗通义》：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194560"/>
            <a:ext cx="530352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上古天地未有人民，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697480"/>
            <a:ext cx="530352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女娲抟黄土作人。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520440"/>
            <a:ext cx="22860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749039"/>
            <a:ext cx="53035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3C33"/>
                </a:solidFill>
                <a:latin typeface="方正小标宋简体"/>
              </a:rPr>
              <a:t>三千年前，女娲用一捧泥造出了人。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206240"/>
            <a:ext cx="53035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3C33"/>
                </a:solidFill>
                <a:latin typeface="方正小标宋简体"/>
              </a:rPr>
              <a:t>三千年后，你用一万条碎片造你自己的知识。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937760"/>
            <a:ext cx="5303520" cy="1417320"/>
          </a:xfrm>
          <a:prstGeom prst="roundRect">
            <a:avLst>
              <a:gd name="adj" fmla="val 5000"/>
            </a:avLst>
          </a:prstGeom>
          <a:solidFill>
            <a:srgbClr val="B8654A"/>
          </a:solidFill>
          <a:ln w="6350">
            <a:solidFill>
              <a:srgbClr val="B8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5074920"/>
            <a:ext cx="53035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方正小标宋简体"/>
              </a:rPr>
              <a:t>抟知 ToKnow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532120"/>
            <a:ext cx="53035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C9A876"/>
                </a:solidFill>
                <a:latin typeface="方正小标宋简体"/>
              </a:rPr>
              <a:t>不是再做一个笔记本，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897880"/>
            <a:ext cx="53035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方正小标宋简体"/>
              </a:rPr>
              <a:t>而是一台"收藏夹复活机"。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05 / 20</a:t>
            </a:r>
          </a:p>
        </p:txBody>
      </p:sp>
      <p:pic>
        <p:nvPicPr>
          <p:cNvPr id="40" name="Picture 39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02 · How — 核心评审项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核心 Prompt 原词｜可复用的核心证明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860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57800" cy="73152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45920"/>
            <a:ext cx="4937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Prompt 1 · 数据理解 + HTML 初版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103120"/>
            <a:ext cx="4937760" cy="1463040"/>
          </a:xfrm>
          <a:prstGeom prst="roundRect">
            <a:avLst>
              <a:gd name="adj" fmla="val 3000"/>
            </a:avLst>
          </a:prstGeom>
          <a:solidFill>
            <a:srgbClr val="FBF7EE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94560"/>
            <a:ext cx="4663440" cy="1280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Times New Roman"/>
              </a:rPr>
              <a:t>基于上传的 Excel 分析「抟知 ToKnow」碎片知识数据库。这是真实用户的收藏库，请生成单文件 HTML Demo，CSS/JS/数据全部内嵌。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257800" cy="22860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5257800" cy="73152"/>
          </a:xfrm>
          <a:prstGeom prst="rect">
            <a:avLst/>
          </a:prstGeom>
          <a:solidFill>
            <a:srgbClr val="8C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645920"/>
            <a:ext cx="4937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Prompt 2 · 联想引擎升级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2103120"/>
            <a:ext cx="4937760" cy="1463040"/>
          </a:xfrm>
          <a:prstGeom prst="roundRect">
            <a:avLst>
              <a:gd name="adj" fmla="val 3000"/>
            </a:avLst>
          </a:prstGeom>
          <a:solidFill>
            <a:srgbClr val="FBF7EE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94560"/>
            <a:ext cx="4663440" cy="1280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Times New Roman"/>
              </a:rPr>
              <a:t>从 12 个角度发散选题（核心样本 / 跨主题 / 理论×田野 / 城市切片…），严格引用真实卡片+URL，禁止虚构。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257800" cy="22860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257800" cy="73152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14800"/>
            <a:ext cx="4937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Prompt 3 · 三档草稿生成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4572000"/>
            <a:ext cx="4937760" cy="1463040"/>
          </a:xfrm>
          <a:prstGeom prst="roundRect">
            <a:avLst>
              <a:gd name="adj" fmla="val 3000"/>
            </a:avLst>
          </a:prstGeom>
          <a:solidFill>
            <a:srgbClr val="FBF7EE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663440"/>
            <a:ext cx="4663440" cy="1280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Times New Roman"/>
              </a:rPr>
              <a:t>生成内容分三档可切换：简版 200 字 / 标准 800 字 / 完整 2000 字。每档都是真实独立内容，不是简单截取。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31920"/>
            <a:ext cx="5257800" cy="22860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931920"/>
            <a:ext cx="5257800" cy="73152"/>
          </a:xfrm>
          <a:prstGeom prst="rect">
            <a:avLst/>
          </a:prstGeom>
          <a:solidFill>
            <a:srgbClr val="6B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4114800"/>
            <a:ext cx="4937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Prompt 4 · 平台样例 + 真实可点击动作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6792" y="4572000"/>
            <a:ext cx="4937760" cy="1463040"/>
          </a:xfrm>
          <a:prstGeom prst="roundRect">
            <a:avLst>
              <a:gd name="adj" fmla="val 3000"/>
            </a:avLst>
          </a:prstGeom>
          <a:solidFill>
            <a:srgbClr val="FBF7EE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663440"/>
            <a:ext cx="4663440" cy="12801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Times New Roman"/>
              </a:rPr>
              <a:t>工作台平台卡可点击弹窗显示样例；6 个下一步动作按钮都要真实生成（标题组/封面/9图/分镜/口播/系列）。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9A8A7A"/>
                </a:solidFill>
                <a:latin typeface="方正小标宋简体"/>
              </a:rPr>
              <a:t>完整 Prompt 原词与小浣熊回复截图见产品说明文档第 4 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06 / 20</a:t>
            </a:r>
          </a:p>
        </p:txBody>
      </p:sp>
      <p:pic>
        <p:nvPicPr>
          <p:cNvPr id="28" name="Picture 27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02 · How — 核心评审项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模块组合方式｜5 大模块 + 小浣熊 5 能力协同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400800" cy="71323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591056"/>
            <a:ext cx="365760" cy="365760"/>
          </a:xfrm>
          <a:prstGeom prst="ellipse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91056"/>
            <a:ext cx="365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方正小标宋简体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527048"/>
            <a:ext cx="2286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614"/>
                </a:solidFill>
                <a:latin typeface="方正小标宋简体"/>
              </a:rPr>
              <a:t>灵感典藏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28800"/>
            <a:ext cx="54864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19 字段卡片 · 瀑布流 · 4 维度筛选 · Excel/CSV/JSON 上传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6400800" cy="71323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414016"/>
            <a:ext cx="365760" cy="365760"/>
          </a:xfrm>
          <a:prstGeom prst="ellipse">
            <a:avLst/>
          </a:prstGeom>
          <a:solidFill>
            <a:srgbClr val="8C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14016"/>
            <a:ext cx="365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方正小标宋简体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350008"/>
            <a:ext cx="2286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614"/>
                </a:solidFill>
                <a:latin typeface="方正小标宋简体"/>
              </a:rPr>
              <a:t>知识画像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651760"/>
            <a:ext cx="54864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关键词云 · 主题簇 · 跨领域 · 沉睡复活 · 6 大方向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63240"/>
            <a:ext cx="6400800" cy="71323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236976"/>
            <a:ext cx="365760" cy="365760"/>
          </a:xfrm>
          <a:prstGeom prst="ellipse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36976"/>
            <a:ext cx="365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方正小标宋简体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172968"/>
            <a:ext cx="2286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614"/>
                </a:solidFill>
                <a:latin typeface="方正小标宋简体"/>
              </a:rPr>
              <a:t>发展方向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74720"/>
            <a:ext cx="54864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6 主线方向 + 12 联想角度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86200"/>
            <a:ext cx="6400800" cy="71323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" y="4059936"/>
            <a:ext cx="365760" cy="365760"/>
          </a:xfrm>
          <a:prstGeom prst="ellipse">
            <a:avLst/>
          </a:prstGeom>
          <a:solidFill>
            <a:srgbClr val="6B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59936"/>
            <a:ext cx="365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方正小标宋简体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995928"/>
            <a:ext cx="2286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614"/>
                </a:solidFill>
                <a:latin typeface="方正小标宋简体"/>
              </a:rPr>
              <a:t>生成成果工作台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297680"/>
            <a:ext cx="54864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左侧切换 + 右侧 6 段 · 三档草稿 · 6 动作 · 4 平台样例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09160"/>
            <a:ext cx="6400800" cy="71323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4882896"/>
            <a:ext cx="365760" cy="365760"/>
          </a:xfrm>
          <a:prstGeom prst="ellipse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82896"/>
            <a:ext cx="365760" cy="36576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方正小标宋简体"/>
              </a:rP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818888"/>
            <a:ext cx="2286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614"/>
                </a:solidFill>
                <a:latin typeface="方正小标宋简体"/>
              </a:rPr>
              <a:t>待生成库 / 我的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120640"/>
            <a:ext cx="54864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localStorage 持久化 · 登录态 · 游客模式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1417320"/>
            <a:ext cx="4023360" cy="4846320"/>
          </a:xfrm>
          <a:prstGeom prst="roundRect">
            <a:avLst>
              <a:gd name="adj" fmla="val 5000"/>
            </a:avLst>
          </a:prstGeom>
          <a:solidFill>
            <a:srgbClr val="8C4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1554480"/>
            <a:ext cx="36576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876"/>
                </a:solidFill>
                <a:latin typeface="方正小标宋简体"/>
              </a:rPr>
              <a:t>小浣熊 5 能力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2057400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FF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2194560"/>
            <a:ext cx="457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A1614"/>
                </a:solidFill>
                <a:latin typeface="方正小标宋简体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167128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614"/>
                </a:solidFill>
                <a:latin typeface="方正小标宋简体"/>
              </a:rPr>
              <a:t>数据分析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167128"/>
            <a:ext cx="10972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 i="0">
                <a:solidFill>
                  <a:srgbClr val="8C4A35"/>
                </a:solidFill>
                <a:latin typeface="Times New Roman"/>
              </a:rPr>
              <a:t>25%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2834640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FF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2971800"/>
            <a:ext cx="457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A1614"/>
                </a:solidFill>
                <a:latin typeface="方正小标宋简体"/>
              </a:rPr>
              <a:t>✍️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944368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614"/>
                </a:solidFill>
                <a:latin typeface="方正小标宋简体"/>
              </a:rPr>
              <a:t>写作 / 文案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2944368"/>
            <a:ext cx="10972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 i="0">
                <a:solidFill>
                  <a:srgbClr val="8C4A35"/>
                </a:solidFill>
                <a:latin typeface="Times New Roman"/>
              </a:rPr>
              <a:t>30%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89520" y="3611880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FF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3749040"/>
            <a:ext cx="457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A1614"/>
                </a:solidFill>
                <a:latin typeface="方正小标宋简体"/>
              </a:rPr>
              <a:t>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721608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614"/>
                </a:solidFill>
                <a:latin typeface="方正小标宋简体"/>
              </a:rPr>
              <a:t>PPT / 文档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721608"/>
            <a:ext cx="10972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 i="0">
                <a:solidFill>
                  <a:srgbClr val="8C4A35"/>
                </a:solidFill>
                <a:latin typeface="Times New Roman"/>
              </a:rPr>
              <a:t>20%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89520" y="4389120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FF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4526280"/>
            <a:ext cx="457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A1614"/>
                </a:solidFill>
                <a:latin typeface="方正小标宋简体"/>
              </a:rPr>
              <a:t>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498848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614"/>
                </a:solidFill>
                <a:latin typeface="方正小标宋简体"/>
              </a:rPr>
              <a:t>知识库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4498848"/>
            <a:ext cx="10972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 i="0">
                <a:solidFill>
                  <a:srgbClr val="8C4A35"/>
                </a:solidFill>
                <a:latin typeface="Times New Roman"/>
              </a:rPr>
              <a:t>15%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89520" y="5166360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FF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5303520"/>
            <a:ext cx="457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A1614"/>
                </a:solidFill>
                <a:latin typeface="方正小标宋简体"/>
              </a:rPr>
              <a:t>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276088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614"/>
                </a:solidFill>
                <a:latin typeface="方正小标宋简体"/>
              </a:rPr>
              <a:t>链接校验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5276088"/>
            <a:ext cx="10972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 i="0">
                <a:solidFill>
                  <a:srgbClr val="8C4A35"/>
                </a:solidFill>
                <a:latin typeface="Times New Roman"/>
              </a:rPr>
              <a:t>10%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07 / 20</a:t>
            </a:r>
          </a:p>
        </p:txBody>
      </p:sp>
      <p:pic>
        <p:nvPicPr>
          <p:cNvPr id="54" name="Picture 53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02 · How — 核心评审项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核心工作流｜5 步走完"碎片 → 资产"全链路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64208"/>
            <a:ext cx="420624" cy="420624"/>
          </a:xfrm>
          <a:prstGeom prst="ellipse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420624" cy="4206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方正小标宋简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581912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614"/>
                </a:solidFill>
                <a:latin typeface="方正小标宋简体"/>
              </a:rPr>
              <a:t>导入碎片材料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645920"/>
            <a:ext cx="658368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上传 Excel / CSV / JSON · 19 字段标准模板 · 智能字段映射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624328"/>
            <a:ext cx="420624" cy="420624"/>
          </a:xfrm>
          <a:prstGeom prst="ellipse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24328"/>
            <a:ext cx="420624" cy="4206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方正小标宋简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542032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614"/>
                </a:solidFill>
                <a:latin typeface="方正小标宋简体"/>
              </a:rPr>
              <a:t>生成知识卡片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06040"/>
            <a:ext cx="658368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摘要 / 分类 / 标签 / 关键词 / 价值评分 五重处理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84448"/>
            <a:ext cx="420624" cy="420624"/>
          </a:xfrm>
          <a:prstGeom prst="ellipse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84448"/>
            <a:ext cx="420624" cy="4206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方正小标宋简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502152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614"/>
                </a:solidFill>
                <a:latin typeface="方正小标宋简体"/>
              </a:rPr>
              <a:t>建立主题聚类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566160"/>
            <a:ext cx="658368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自动识别高频主题 / 跨领域连接 / 潜在知识网络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4340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方正小标宋简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462272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614"/>
                </a:solidFill>
                <a:latin typeface="方正小标宋简体"/>
              </a:rPr>
              <a:t>生成个人画像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526280"/>
            <a:ext cx="658368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关键词云 · 主题簇 · 跨领域 · 沉睡复活 · 6 大方向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0352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5504688"/>
            <a:ext cx="420624" cy="420624"/>
          </a:xfrm>
          <a:prstGeom prst="ellipse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04688"/>
            <a:ext cx="420624" cy="4206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方正小标宋简体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422392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614"/>
                </a:solidFill>
                <a:latin typeface="方正小标宋简体"/>
              </a:rPr>
              <a:t>转化为成果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486400"/>
            <a:ext cx="658368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12 角度 × 4 类型 + 三档草稿 + 6 真实动作 + 4 平台样例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08 / 20</a:t>
            </a:r>
          </a:p>
        </p:txBody>
      </p:sp>
      <p:pic>
        <p:nvPicPr>
          <p:cNvPr id="32" name="Picture 31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02 · How — 核心评审项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核心创新一｜联想引擎 12 角度 × 4 类型 = 48 真实选题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9164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核心样本深读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1848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69164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跨主题对照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1848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69164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理论 × 田野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6304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61848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🇫🇷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169164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巴黎城市切片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33172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48716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56032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食物三重奏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233172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248716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56032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文学 × 城市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33172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48716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56032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媒介做田野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233172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248716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56032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体育 × 政治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20040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35584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42900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女性视角串线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320040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335584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42900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元命题：收藏本身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20040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35584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42900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满分池连点成线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320040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3355848"/>
            <a:ext cx="457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614"/>
                </a:solidFill>
                <a:latin typeface="方正小标宋简体"/>
              </a:rPr>
              <a:t>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3429000"/>
            <a:ext cx="1828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614"/>
                </a:solidFill>
                <a:latin typeface="方正小标宋简体"/>
              </a:rPr>
              <a:t>沉睡复活计划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029200"/>
            <a:ext cx="10698480" cy="1417320"/>
          </a:xfrm>
          <a:prstGeom prst="roundRect">
            <a:avLst>
              <a:gd name="adj" fmla="val 5000"/>
            </a:avLst>
          </a:prstGeom>
          <a:solidFill>
            <a:srgbClr val="B8654A"/>
          </a:solidFill>
          <a:ln w="6350">
            <a:solidFill>
              <a:srgbClr val="B8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方正小标宋简体"/>
              </a:rPr>
              <a:t>12 角度 × 4 类型（文章 / 研究 / 视频 / 项目）= 48 个真实候选选题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C9A876"/>
                </a:solidFill>
                <a:latin typeface="方正小标宋简体"/>
              </a:rPr>
              <a:t>每个选题严格引用真实卡片 + URL · 禁止虚构 · 三档草稿可切换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09 / 20</a:t>
            </a:r>
          </a:p>
        </p:txBody>
      </p:sp>
      <p:pic>
        <p:nvPicPr>
          <p:cNvPr id="46" name="Picture 45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02 · How — 核心评审项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关键操作截图｜与小浣熊协作的真实过程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194560" cy="329184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19202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9A8A7A"/>
                </a:solidFill>
                <a:latin typeface="方正小标宋简体"/>
              </a:rPr>
              <a:t>[ 截图区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B8654A"/>
                </a:solidFill>
                <a:latin typeface="方正小标宋简体"/>
              </a:rPr>
              <a:t>截图 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92024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Excel 上传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→ 字段自动识别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554480"/>
            <a:ext cx="2194560" cy="329184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169164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468880"/>
            <a:ext cx="19202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9A8A7A"/>
                </a:solidFill>
                <a:latin typeface="方正小标宋简体"/>
              </a:rPr>
              <a:t>[ 截图区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79476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B8654A"/>
                </a:solidFill>
                <a:latin typeface="方正小标宋简体"/>
              </a:rPr>
              <a:t>截图 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206240"/>
            <a:ext cx="192024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Prompt 调优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→ 12 角度框架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9" y="1554480"/>
            <a:ext cx="2194560" cy="329184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49239" y="169164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39" y="2468880"/>
            <a:ext cx="19202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9A8A7A"/>
                </a:solidFill>
                <a:latin typeface="方正小标宋简体"/>
              </a:rPr>
              <a:t>[ 截图区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379476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B8654A"/>
                </a:solidFill>
                <a:latin typeface="方正小标宋简体"/>
              </a:rPr>
              <a:t>截图 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39" y="4206240"/>
            <a:ext cx="192024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真实性约束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→ 禁止虚构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554480"/>
            <a:ext cx="2194560" cy="329184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80960" y="169164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468880"/>
            <a:ext cx="19202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9A8A7A"/>
                </a:solidFill>
                <a:latin typeface="方正小标宋简体"/>
              </a:rPr>
              <a:t>[ 截图区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79476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B8654A"/>
                </a:solidFill>
                <a:latin typeface="方正小标宋简体"/>
              </a:rPr>
              <a:t>截图 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206240"/>
            <a:ext cx="192024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三档草稿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→ 200/800/2000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19" y="1554480"/>
            <a:ext cx="2194560" cy="329184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12679" y="1691640"/>
            <a:ext cx="1920240" cy="201168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79" y="2468880"/>
            <a:ext cx="19202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9A8A7A"/>
                </a:solidFill>
                <a:latin typeface="方正小标宋简体"/>
              </a:rPr>
              <a:t>[ 截图区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379476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B8654A"/>
                </a:solidFill>
                <a:latin typeface="方正小标宋简体"/>
              </a:rPr>
              <a:t>截图 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79" y="4206240"/>
            <a:ext cx="192024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可点击动作</a:t>
            </a:r>
          </a:p>
          <a:p>
            <a:pPr algn="ctr">
              <a:lnSpc>
                <a:spcPct val="14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→ 弹窗生成结果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09728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1">
                <a:solidFill>
                  <a:srgbClr val="4A3C33"/>
                </a:solidFill>
                <a:latin typeface="方正小标宋简体"/>
              </a:rPr>
              <a:t>每张截图记录一次关键 Prompt 演化——这是产品被造出来的真实过程。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978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9A8A7A"/>
                </a:solidFill>
                <a:latin typeface="方正小标宋简体"/>
              </a:rPr>
              <a:t>截图区可贴入真实录屏画面 · 提交前请替换为实拍图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10 / 20</a:t>
            </a:r>
          </a:p>
        </p:txBody>
      </p:sp>
      <p:pic>
        <p:nvPicPr>
          <p:cNvPr id="34" name="Picture 33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02 · How — 核心评审项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方案独特性｜三大差异化壁垒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4173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" cy="1417320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828800"/>
            <a:ext cx="640080" cy="640080"/>
          </a:xfrm>
          <a:prstGeom prst="ellipse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64008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方正小标宋简体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00200"/>
            <a:ext cx="2743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B8654A"/>
                </a:solidFill>
                <a:latin typeface="方正小标宋简体"/>
              </a:rPr>
              <a:t>文化锚点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20240"/>
            <a:ext cx="91440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614"/>
                </a:solidFill>
                <a:latin typeface="方正小标宋简体"/>
              </a:rPr>
              <a:t>女娲抟土造人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23160"/>
            <a:ext cx="91440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A3C33"/>
                </a:solidFill>
                <a:latin typeface="方正小标宋简体"/>
              </a:rPr>
              <a:t>Logo / 命名 / 叙事全部围绕"抟"——不是工具，是创造行为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10698480" cy="14173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109728" cy="1417320"/>
          </a:xfrm>
          <a:prstGeom prst="rect">
            <a:avLst/>
          </a:prstGeom>
          <a:solidFill>
            <a:srgbClr val="8C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3429000"/>
            <a:ext cx="640080" cy="640080"/>
          </a:xfrm>
          <a:prstGeom prst="ellipse">
            <a:avLst/>
          </a:prstGeom>
          <a:solidFill>
            <a:srgbClr val="8C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29000"/>
            <a:ext cx="64008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方正小标宋简体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200400"/>
            <a:ext cx="2743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8C4A35"/>
                </a:solidFill>
                <a:latin typeface="方正小标宋简体"/>
              </a:rPr>
              <a:t>技术差异化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520440"/>
            <a:ext cx="91440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614"/>
                </a:solidFill>
                <a:latin typeface="方正小标宋简体"/>
              </a:rPr>
              <a:t>78 套真实预设内容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023360"/>
            <a:ext cx="91440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A3C33"/>
                </a:solidFill>
                <a:latin typeface="方正小标宋简体"/>
              </a:rPr>
              <a:t>3 档草稿 × 6 方向 + 6 动作 × 6 方向 + 4 平台 × 6 方向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698480" cy="14173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109728" cy="1417320"/>
          </a:xfrm>
          <a:prstGeom prst="rect">
            <a:avLst/>
          </a:prstGeom>
          <a:solidFill>
            <a:srgbClr val="6B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5029200"/>
            <a:ext cx="640080" cy="640080"/>
          </a:xfrm>
          <a:prstGeom prst="ellipse">
            <a:avLst/>
          </a:prstGeom>
          <a:solidFill>
            <a:srgbClr val="6B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29200"/>
            <a:ext cx="64008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方正小标宋简体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800600"/>
            <a:ext cx="2743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6B8B6E"/>
                </a:solidFill>
                <a:latin typeface="方正小标宋简体"/>
              </a:rPr>
              <a:t>真实性约束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120640"/>
            <a:ext cx="91440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614"/>
                </a:solidFill>
                <a:latin typeface="方正小标宋简体"/>
              </a:rPr>
              <a:t>强 RAG 思想产品化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623560"/>
            <a:ext cx="91440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A3C33"/>
                </a:solidFill>
                <a:latin typeface="方正小标宋简体"/>
              </a:rPr>
              <a:t>每选题强制引用 2-3 张真实卡片 + 可点击 URL · 禁止虚构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11 / 20</a:t>
            </a:r>
          </a:p>
        </p:txBody>
      </p:sp>
      <p:pic>
        <p:nvPicPr>
          <p:cNvPr id="28" name="Picture 27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03 · 成果与价值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最终交付物｜完整产品资产清单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2560320" cy="73152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1A1614"/>
                </a:solidFill>
                <a:latin typeface="方正小标宋简体"/>
              </a:rPr>
              <a:t>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V15.6 HTML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244 KB · 单文件 · 零依赖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0876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508760"/>
            <a:ext cx="2560320" cy="73152"/>
          </a:xfrm>
          <a:prstGeom prst="rect">
            <a:avLst/>
          </a:prstGeom>
          <a:solidFill>
            <a:srgbClr val="8C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78308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1A1614"/>
                </a:solidFill>
                <a:latin typeface="方正小标宋简体"/>
              </a:rPr>
              <a:t>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146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闪电演讲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92608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300 字 · 痛点-方案-成效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0876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08760"/>
            <a:ext cx="2560320" cy="73152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1A1614"/>
                </a:solidFill>
                <a:latin typeface="方正小标宋简体"/>
              </a:rPr>
              <a:t>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产品说明文档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按官方评审顺序结构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50876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508760"/>
            <a:ext cx="2560320" cy="73152"/>
          </a:xfrm>
          <a:prstGeom prst="rect">
            <a:avLst/>
          </a:prstGeom>
          <a:solidFill>
            <a:srgbClr val="6B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78308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1A1614"/>
                </a:solidFill>
                <a:latin typeface="方正小标宋简体"/>
              </a:rPr>
              <a:t>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146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技术说明文档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92608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含 Prompt 工程章节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9476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94760"/>
            <a:ext cx="2560320" cy="73152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06908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1A1614"/>
                </a:solidFill>
                <a:latin typeface="方正小标宋简体"/>
              </a:rPr>
              <a:t>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PPT 演示文稿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1208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20 页 · 按评审顺序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379476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0" y="3794760"/>
            <a:ext cx="2560320" cy="73152"/>
          </a:xfrm>
          <a:prstGeom prst="rect">
            <a:avLst/>
          </a:prstGeom>
          <a:solidFill>
            <a:srgbClr val="8C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406908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1A1614"/>
                </a:solidFill>
                <a:latin typeface="方正小标宋简体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8006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原始数据库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21208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v15 · 43 条已核实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79476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794760"/>
            <a:ext cx="2560320" cy="73152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06908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1A1614"/>
                </a:solidFill>
                <a:latin typeface="方正小标宋简体"/>
              </a:rPr>
              <a:t>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006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部署指南 + GitHub Repo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1208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Vercel 一键部署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3794760"/>
            <a:ext cx="2560320" cy="210312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3794760"/>
            <a:ext cx="2560320" cy="73152"/>
          </a:xfrm>
          <a:prstGeom prst="rect">
            <a:avLst/>
          </a:prstGeom>
          <a:solidFill>
            <a:srgbClr val="6B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4069080"/>
            <a:ext cx="21945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1A1614"/>
                </a:solidFill>
                <a:latin typeface="方正小标宋简体"/>
              </a:rPr>
              <a:t>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800600"/>
            <a:ext cx="21945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演示视频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212080"/>
            <a:ext cx="219456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0" i="0">
                <a:solidFill>
                  <a:srgbClr val="4A3C33"/>
                </a:solidFill>
                <a:latin typeface="方正小标宋简体"/>
              </a:rPr>
              <a:t>3 分钟全链路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12 / 20</a:t>
            </a:r>
          </a:p>
        </p:txBody>
      </p:sp>
      <p:pic>
        <p:nvPicPr>
          <p:cNvPr id="47" name="Picture 46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03 · 成果与价值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数据支撑｜量化效益（基于 43 条真实数据验证）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A8A7A"/>
                </a:solidFill>
                <a:latin typeface="方正小标宋简体"/>
              </a:rPr>
              <a:t>沉睡激活率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&lt;10%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B8654A"/>
                </a:solidFill>
                <a:latin typeface="方正小标宋简体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5603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B8654A"/>
                </a:solidFill>
                <a:latin typeface="Times New Roman"/>
              </a:rPr>
              <a:t>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25603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i="0">
                <a:solidFill>
                  <a:srgbClr val="6B8B6E"/>
                </a:solidFill>
                <a:latin typeface="Times New Roman"/>
              </a:rPr>
              <a:t>8.8×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96596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A8A7A"/>
                </a:solidFill>
                <a:latin typeface="方正小标宋简体"/>
              </a:rPr>
              <a:t>选题耗时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2-4 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4320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B8654A"/>
                </a:solidFill>
                <a:latin typeface="方正小标宋简体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108960"/>
            <a:ext cx="25603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B8654A"/>
                </a:solidFill>
                <a:latin typeface="Times New Roman"/>
              </a:rPr>
              <a:t>3 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611880"/>
            <a:ext cx="25603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i="0">
                <a:solidFill>
                  <a:srgbClr val="6B8B6E"/>
                </a:solidFill>
                <a:latin typeface="Times New Roman"/>
              </a:rPr>
              <a:t>~10⁵×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6596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A8A7A"/>
                </a:solidFill>
                <a:latin typeface="方正小标宋简体"/>
              </a:rPr>
              <a:t>单批选题数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4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1-2 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4320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B8654A"/>
                </a:solidFill>
                <a:latin typeface="方正小标宋简体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08960"/>
            <a:ext cx="25603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B8654A"/>
                </a:solidFill>
                <a:latin typeface="Times New Roman"/>
              </a:rPr>
              <a:t>60+ 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11880"/>
            <a:ext cx="25603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i="0">
                <a:solidFill>
                  <a:srgbClr val="6B8B6E"/>
                </a:solidFill>
                <a:latin typeface="Times New Roman"/>
              </a:rPr>
              <a:t>30×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8288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196596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A8A7A"/>
                </a:solidFill>
                <a:latin typeface="方正小标宋简体"/>
              </a:rPr>
              <a:t>引用真实率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37744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易幻觉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74320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B8654A"/>
                </a:solidFill>
                <a:latin typeface="方正小标宋简体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108960"/>
            <a:ext cx="25603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B8654A"/>
                </a:solidFill>
                <a:latin typeface="Times New Roman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611880"/>
            <a:ext cx="25603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i="0">
                <a:solidFill>
                  <a:srgbClr val="6B8B6E"/>
                </a:solidFill>
                <a:latin typeface="Times New Roman"/>
              </a:rPr>
              <a:t>质变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389120"/>
            <a:ext cx="10698480" cy="1874519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6350">
            <a:solidFill>
              <a:srgbClr val="B8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72000"/>
            <a:ext cx="1069848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8C4A35"/>
                </a:solidFill>
                <a:latin typeface="方正小标宋简体"/>
              </a:rPr>
              <a:t>核心创新二｜复制即用密度第一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29200"/>
            <a:ext cx="1069848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1A1614"/>
                </a:solidFill>
                <a:latin typeface="方正小标宋简体"/>
              </a:rPr>
              <a:t>三档草稿（200/800/2000）· 6 真实动作 · 4 平台样例预览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A1614"/>
                </a:solidFill>
                <a:latin typeface="方正小标宋简体"/>
              </a:rPr>
              <a:t>6 方向 × 3 档 + 6 方向 × 6 动作 + 6 方向 × 4 平台</a:t>
            </a:r>
          </a:p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A1614"/>
                </a:solidFill>
                <a:latin typeface="方正小标宋简体"/>
              </a:rPr>
              <a:t>=  78 套真实可复制的内容预设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13 / 20</a:t>
            </a:r>
          </a:p>
        </p:txBody>
      </p:sp>
      <p:pic>
        <p:nvPicPr>
          <p:cNvPr id="35" name="Picture 34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03 · 成果与价值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测试 vs 真实场景｜Demo 是预览，不是上限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4A3C33"/>
                </a:solidFill>
                <a:latin typeface="方正小标宋简体"/>
              </a:rPr>
              <a:t>本 Demo 数据来自作者真实收藏（v4 · 43 条）。当用户上传自己的数据，系统按规模自适应。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200400" cy="457200"/>
          </a:xfrm>
          <a:prstGeom prst="roundRect">
            <a:avLst>
              <a:gd name="adj" fmla="val 5000"/>
            </a:avLst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方正小标宋简体"/>
              </a:rPr>
              <a:t>维度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194560"/>
            <a:ext cx="4114800" cy="457200"/>
          </a:xfrm>
          <a:prstGeom prst="roundRect">
            <a:avLst>
              <a:gd name="adj" fmla="val 5000"/>
            </a:avLst>
          </a:prstGeom>
          <a:solidFill>
            <a:srgbClr val="4A3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286000"/>
            <a:ext cx="41148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方正小标宋简体"/>
              </a:rPr>
              <a:t>本次测试数据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94560"/>
            <a:ext cx="4297680" cy="457200"/>
          </a:xfrm>
          <a:prstGeom prst="roundRect">
            <a:avLst>
              <a:gd name="adj" fmla="val 5000"/>
            </a:avLst>
          </a:prstGeom>
          <a:solidFill>
            <a:srgbClr val="8C4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286000"/>
            <a:ext cx="429768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方正小标宋简体"/>
              </a:rPr>
              <a:t>真实用户使用场景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32004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24912"/>
            <a:ext cx="3200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样本规模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51760"/>
            <a:ext cx="41148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724912"/>
            <a:ext cx="4114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43 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51760"/>
            <a:ext cx="4297680" cy="393192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724912"/>
            <a:ext cx="4297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300 – 3,000 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90672"/>
            <a:ext cx="32004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63824"/>
            <a:ext cx="3200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主题簇数量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3090672"/>
            <a:ext cx="41148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163824"/>
            <a:ext cx="4114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15 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090672"/>
            <a:ext cx="4297680" cy="393192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163824"/>
            <a:ext cx="4297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8 – 30 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29584"/>
            <a:ext cx="32004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602736"/>
            <a:ext cx="3200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联想角度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3529584"/>
            <a:ext cx="41148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3602736"/>
            <a:ext cx="4114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12 基础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529584"/>
            <a:ext cx="4297680" cy="393192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602736"/>
            <a:ext cx="4297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12 基础 + 1-4 用户专属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968496"/>
            <a:ext cx="32004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041648"/>
            <a:ext cx="3200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单批候选选题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0" y="3968496"/>
            <a:ext cx="41148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4041648"/>
            <a:ext cx="4114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48 个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968496"/>
            <a:ext cx="4297680" cy="393192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041648"/>
            <a:ext cx="4297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60 – 120 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407408"/>
            <a:ext cx="32004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480560"/>
            <a:ext cx="3200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生成耗时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31920" y="4407408"/>
            <a:ext cx="41148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4480560"/>
            <a:ext cx="4114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~3 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4407408"/>
            <a:ext cx="4297680" cy="393192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4480560"/>
            <a:ext cx="4297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~5-10 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846320"/>
            <a:ext cx="32004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919472"/>
            <a:ext cx="3200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真实性约束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31920" y="4846320"/>
            <a:ext cx="4114800" cy="393192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4919472"/>
            <a:ext cx="4114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4A3C33"/>
                </a:solidFill>
                <a:latin typeface="方正小标宋简体"/>
              </a:rPr>
              <a:t>100% 引用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846320"/>
            <a:ext cx="4297680" cy="393192"/>
          </a:xfrm>
          <a:prstGeom prst="roundRect">
            <a:avLst>
              <a:gd name="adj" fmla="val 5000"/>
            </a:avLst>
          </a:prstGeom>
          <a:solidFill>
            <a:srgbClr val="D89578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4919472"/>
            <a:ext cx="429768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保持 100%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B8654A"/>
                </a:solidFill>
                <a:latin typeface="方正小标宋简体"/>
              </a:rPr>
              <a:t>本 Demo 既是产品演示，也是"使用前预览"——有真实质感的工作流。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14 / 20</a:t>
            </a:r>
          </a:p>
        </p:txBody>
      </p:sp>
      <p:pic>
        <p:nvPicPr>
          <p:cNvPr id="51" name="Picture 50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03 · 成果与价值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商业模式｜C+B 双路径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5720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B8654A"/>
                </a:solidFill>
                <a:latin typeface="方正小标宋简体"/>
              </a:rPr>
              <a:t>C 端订阅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371600" cy="27432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614"/>
                </a:solidFill>
                <a:latin typeface="方正小标宋简体"/>
              </a:rPr>
              <a:t>个人版　¥199 /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科研者 + 创作者 · 全功能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614"/>
                </a:solidFill>
                <a:latin typeface="方正小标宋简体"/>
              </a:rPr>
              <a:t>专业版　¥599 /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高灵感工作者 · 多人协作 ·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614"/>
                </a:solidFill>
                <a:latin typeface="方正小标宋简体"/>
              </a:rPr>
              <a:t>团队版　¥2,999 / 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5 人小团队 · 共享知识库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8C4A35"/>
                </a:solidFill>
                <a:latin typeface="方正小标宋简体"/>
              </a:rPr>
              <a:t>潜在用户：2,000 万独立创作者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08760"/>
            <a:ext cx="5212080" cy="45720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8C4A35"/>
                </a:solidFill>
                <a:latin typeface="方正小标宋简体"/>
              </a:rPr>
              <a:t>B 端衍生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94560"/>
            <a:ext cx="1371600" cy="27432"/>
          </a:xfrm>
          <a:prstGeom prst="rect">
            <a:avLst/>
          </a:prstGeom>
          <a:solidFill>
            <a:srgbClr val="8C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614"/>
                </a:solidFill>
                <a:latin typeface="方正小标宋简体"/>
              </a:rPr>
              <a:t>高校研究生院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论文综合素养课 · 全人教育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4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614"/>
                </a:solidFill>
                <a:latin typeface="方正小标宋简体"/>
              </a:rPr>
              <a:t>MCN / 内容公司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团队版 · 选题工厂解决方案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614"/>
                </a:solidFill>
                <a:latin typeface="方正小标宋简体"/>
              </a:rPr>
              <a:t>出版社作者孵化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0916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选题孵化 · 长期作者陪伴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15 / 20</a:t>
            </a:r>
          </a:p>
        </p:txBody>
      </p:sp>
      <p:pic>
        <p:nvPicPr>
          <p:cNvPr id="26" name="Picture 25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03 · 成果与价值 (What)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对应评审 4 维度的自评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6858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3891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614"/>
                </a:solidFill>
                <a:latin typeface="方正小标宋简体"/>
              </a:rPr>
              <a:t>场景真实性与闭环验证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719072"/>
            <a:ext cx="10972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B8654A"/>
                </a:solidFill>
                <a:latin typeface="Times New Roman"/>
              </a:rP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55648"/>
            <a:ext cx="47548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A3C33"/>
                </a:solidFill>
                <a:latin typeface="方正小标宋简体"/>
              </a:rPr>
              <a:t>43 条真实数据 · 88% 已核实 · 完整链路跑通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0698480" cy="6858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43891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614"/>
                </a:solidFill>
                <a:latin typeface="方正小标宋简体"/>
              </a:rPr>
              <a:t>商业价值与可持续性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96312"/>
            <a:ext cx="10972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B8654A"/>
                </a:solidFill>
                <a:latin typeface="Times New Roman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32888"/>
            <a:ext cx="47548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A3C33"/>
                </a:solidFill>
                <a:latin typeface="方正小标宋简体"/>
              </a:rPr>
              <a:t>C+B 双路径 · 数据库无限扩展 · 联想引擎可复用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10698480" cy="6858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10128"/>
            <a:ext cx="43891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614"/>
                </a:solidFill>
                <a:latin typeface="方正小标宋简体"/>
              </a:rPr>
              <a:t>工具整合与替代能力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273552"/>
            <a:ext cx="10972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B8654A"/>
                </a:solidFill>
                <a:latin typeface="Times New Roman"/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10128"/>
            <a:ext cx="47548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A3C33"/>
                </a:solidFill>
                <a:latin typeface="方正小标宋简体"/>
              </a:rPr>
              <a:t>5 模块协同 · 单上下文 · 非简单串联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10698480" cy="6858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87368"/>
            <a:ext cx="43891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614"/>
                </a:solidFill>
                <a:latin typeface="方正小标宋简体"/>
              </a:rPr>
              <a:t>表达清晰度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050792"/>
            <a:ext cx="10972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B8654A"/>
                </a:solidFill>
                <a:latin typeface="Times New Roman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087368"/>
            <a:ext cx="47548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4A3C33"/>
                </a:solidFill>
                <a:latin typeface="方正小标宋简体"/>
              </a:rPr>
              <a:t>闪电演讲 + 产品说明 + 技术文档 + Demo + 视频 +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16 / 20</a:t>
            </a:r>
          </a:p>
        </p:txBody>
      </p:sp>
      <p:pic>
        <p:nvPicPr>
          <p:cNvPr id="23" name="Picture 22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04 · 附件 (加分项)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演示视频｜3 分钟完整链路展示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943600" cy="4114800"/>
          </a:xfrm>
          <a:prstGeom prst="roundRect">
            <a:avLst>
              <a:gd name="adj" fmla="val 5000"/>
            </a:avLst>
          </a:prstGeom>
          <a:solidFill>
            <a:srgbClr val="1A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37560" y="3154680"/>
            <a:ext cx="731520" cy="731520"/>
          </a:xfrm>
          <a:prstGeom prst="ellipse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3154680"/>
            <a:ext cx="731520" cy="7315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0" i="0">
                <a:solidFill>
                  <a:srgbClr val="FFFFFF"/>
                </a:solidFill>
                <a:latin typeface="方正小标宋简体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59436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9A8A7A"/>
                </a:solidFill>
                <a:latin typeface="方正小标宋简体"/>
              </a:rPr>
              <a:t>[ 在此插入演示视频缩略图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8C4A35"/>
                </a:solidFill>
                <a:latin typeface="方正小标宋简体"/>
              </a:rPr>
              <a:t>3 分钟分镜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01168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Times New Roman"/>
              </a:rPr>
              <a:t>0:00-0:20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11680"/>
            <a:ext cx="12801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开场钩子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11680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痛点画面 + 一句强观点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78608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Times New Roman"/>
              </a:rPr>
              <a:t>0:20-0:50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578608"/>
            <a:ext cx="12801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登录入口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78608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演示登录 / 游客模式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145536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Times New Roman"/>
              </a:rPr>
              <a:t>0:50-1:20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145536"/>
            <a:ext cx="12801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数据导入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145536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上传 Excel → 瀑布流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712464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Times New Roman"/>
              </a:rPr>
              <a:t>1:20-1:50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712464"/>
            <a:ext cx="12801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知识画像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712464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5 子模块依次浮现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279392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Times New Roman"/>
              </a:rPr>
              <a:t>1:50-2:30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279392"/>
            <a:ext cx="12801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工作台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279392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三档草稿切换演示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846320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Times New Roman"/>
              </a:rPr>
              <a:t>2:30-2:50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46320"/>
            <a:ext cx="12801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下一步动作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846320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点击生成 5 个标题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413248"/>
            <a:ext cx="914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Times New Roman"/>
              </a:rPr>
              <a:t>2:50-3:00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413248"/>
            <a:ext cx="12801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614"/>
                </a:solidFill>
                <a:latin typeface="方正小标宋简体"/>
              </a:rPr>
              <a:t>收束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413248"/>
            <a:ext cx="22860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3C33"/>
                </a:solidFill>
                <a:latin typeface="方正小标宋简体"/>
              </a:rPr>
              <a:t>"把碎片，抟成自己"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035040"/>
            <a:ext cx="10698480" cy="457200"/>
          </a:xfrm>
          <a:prstGeom prst="roundRect">
            <a:avLst>
              <a:gd name="adj" fmla="val 5000"/>
            </a:avLst>
          </a:prstGeom>
          <a:solidFill>
            <a:srgbClr val="B8654A"/>
          </a:solidFill>
          <a:ln w="6350">
            <a:solidFill>
              <a:srgbClr val="B8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方正小标宋简体"/>
              </a:rPr>
              <a:t>🎥 视频链接：https://your-video-link.com/toknow-demo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17 / 20</a:t>
            </a:r>
          </a:p>
        </p:txBody>
      </p:sp>
      <p:pic>
        <p:nvPicPr>
          <p:cNvPr id="35" name="Picture 34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PART 04 · 附件 (加分项)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可体验 Demo + 源代码开源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09728" cy="4114800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A1614"/>
                </a:solidFill>
                <a:latin typeface="方正小标宋简体"/>
              </a:rPr>
              <a:t>🌐 在线 Demo (Vercel)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5029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打开链接即可体验全部功能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834640"/>
            <a:ext cx="4800600" cy="64008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8006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B8654A"/>
                </a:solidFill>
                <a:latin typeface="Times New Roman"/>
              </a:rPr>
              <a:t>tunknow-toknow.vercel.app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5029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· 单文件 HTML · 零依赖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5029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· 支持 Excel/CSV/JSON 上传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5029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· 完整 6 大模块 + 三档草稿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83480"/>
            <a:ext cx="5029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· 登录 / 游客模式可选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5448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554480"/>
            <a:ext cx="109728" cy="4114800"/>
          </a:xfrm>
          <a:prstGeom prst="rect">
            <a:avLst/>
          </a:prstGeom>
          <a:solidFill>
            <a:srgbClr val="6B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783080"/>
            <a:ext cx="50292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A1614"/>
                </a:solidFill>
                <a:latin typeface="方正小标宋简体"/>
              </a:rPr>
              <a:t>⌥ 源代码 (GitHub)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31720"/>
            <a:ext cx="5029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完整 Repo · 可 Fork · 可二次开发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2834640"/>
            <a:ext cx="4800600" cy="64008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017520"/>
            <a:ext cx="48006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6B8B6E"/>
                </a:solidFill>
                <a:latin typeface="Times New Roman"/>
              </a:rPr>
              <a:t>github.com/Damia/toknow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49039"/>
            <a:ext cx="5029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· README + 完整文档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160520"/>
            <a:ext cx="5029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· MIT 协议开源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572000"/>
            <a:ext cx="5029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· vercel.json 一键部署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983480"/>
            <a:ext cx="50292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3C33"/>
                </a:solidFill>
                <a:latin typeface="方正小标宋简体"/>
              </a:rPr>
              <a:t>· 包含所有提交文档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94360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A1614"/>
                </a:solidFill>
                <a:latin typeface="方正小标宋简体"/>
              </a:rPr>
              <a:t>扫码或点击链接 · 立即体验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18 / 20</a:t>
            </a:r>
          </a:p>
        </p:txBody>
      </p:sp>
      <p:pic>
        <p:nvPicPr>
          <p:cNvPr id="29" name="Picture 28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654A"/>
                </a:solidFill>
                <a:latin typeface="方正小标宋简体"/>
              </a:rPr>
              <a:t>重点亮点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A1614"/>
                </a:solidFill>
                <a:latin typeface="方正小标宋简体"/>
              </a:rPr>
              <a:t>V15.6 · 三大创新让创作真正"复制即用"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457200" cy="36576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9728" cy="1371600"/>
          </a:xfrm>
          <a:prstGeom prst="rect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1874520"/>
            <a:ext cx="640080" cy="640080"/>
          </a:xfrm>
          <a:prstGeom prst="ellipse">
            <a:avLst/>
          </a:prstGeom>
          <a:solidFill>
            <a:srgbClr val="B8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64008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方正小标宋简体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45920"/>
            <a:ext cx="36576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A1614"/>
                </a:solidFill>
                <a:latin typeface="方正小标宋简体"/>
              </a:rPr>
              <a:t>三档草稿生成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03120"/>
            <a:ext cx="9144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3C33"/>
                </a:solidFill>
                <a:latin typeface="方正小标宋简体"/>
              </a:rPr>
              <a:t>简版 200 / 标准 800 / 完整 2,000 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68880"/>
            <a:ext cx="9144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6 方向 × 3 档 = 18 篇真实独立草稿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39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39"/>
            <a:ext cx="109728" cy="137160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3428999"/>
            <a:ext cx="640080" cy="640080"/>
          </a:xfrm>
          <a:prstGeom prst="ellipse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28999"/>
            <a:ext cx="64008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方正小标宋简体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200399"/>
            <a:ext cx="36576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A1614"/>
                </a:solidFill>
                <a:latin typeface="方正小标宋简体"/>
              </a:rPr>
              <a:t>6 个真实可点击下一步动作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657599"/>
            <a:ext cx="9144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3C33"/>
                </a:solidFill>
                <a:latin typeface="方正小标宋简体"/>
              </a:rPr>
              <a:t>标题组/封面/9图/分镜/口播/系列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023359"/>
            <a:ext cx="9144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弹窗显示真实生成结果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FEFDF9"/>
          </a:solidFill>
          <a:ln w="6350">
            <a:solidFill>
              <a:srgbClr val="E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617720"/>
            <a:ext cx="109728" cy="1371600"/>
          </a:xfrm>
          <a:prstGeom prst="rect">
            <a:avLst/>
          </a:prstGeom>
          <a:solidFill>
            <a:srgbClr val="6B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4983480"/>
            <a:ext cx="640080" cy="640080"/>
          </a:xfrm>
          <a:prstGeom prst="ellipse">
            <a:avLst/>
          </a:prstGeom>
          <a:solidFill>
            <a:srgbClr val="6B8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83480"/>
            <a:ext cx="640080" cy="64008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方正小标宋简体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754880"/>
            <a:ext cx="36576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A1614"/>
                </a:solidFill>
                <a:latin typeface="方正小标宋简体"/>
              </a:rPr>
              <a:t>平台样例预览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212080"/>
            <a:ext cx="9144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3C33"/>
                </a:solidFill>
                <a:latin typeface="方正小标宋简体"/>
              </a:rPr>
              <a:t>点击平台卡看具体样例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577840"/>
            <a:ext cx="91440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A8A7A"/>
                </a:solidFill>
                <a:latin typeface="方正小标宋简体"/>
              </a:rPr>
              <a:t>小红书/B站/公众号/抖音 拍摄+发布建议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9A8A7A"/>
                </a:solidFill>
                <a:latin typeface="Times New Roman"/>
              </a:rPr>
              <a:t>19 / 20</a:t>
            </a:r>
          </a:p>
        </p:txBody>
      </p:sp>
      <p:pic>
        <p:nvPicPr>
          <p:cNvPr id="28" name="Picture 27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8C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800" b="1" i="0">
                <a:solidFill>
                  <a:srgbClr val="FFFFFF"/>
                </a:solidFill>
                <a:latin typeface="方正小标宋简体"/>
              </a:rPr>
              <a:t>抟知 ToKnow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743200"/>
            <a:ext cx="2103120" cy="36576"/>
          </a:xfrm>
          <a:prstGeom prst="rect">
            <a:avLst/>
          </a:prstGeom>
          <a:solidFill>
            <a:srgbClr val="D89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方正小标宋简体"/>
              </a:rPr>
              <a:t>把零散的灵感，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109728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C9A876"/>
                </a:solidFill>
                <a:latin typeface="方正小标宋简体"/>
              </a:rPr>
              <a:t>抟成完整的你。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1">
                <a:solidFill>
                  <a:srgbClr val="9A8A7A"/>
                </a:solidFill>
                <a:latin typeface="Times New Roman"/>
              </a:rPr>
              <a:t>Shape your sparks into a 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250000"/>
              </a:lnSpc>
            </a:pPr>
            <a:r>
              <a:rPr sz="2200" b="0" i="0">
                <a:solidFill>
                  <a:srgbClr val="FFFFFF"/>
                </a:solidFill>
                <a:latin typeface="方正小标宋简体"/>
              </a:rPr>
              <a:t>谢   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9A8A7A"/>
                </a:solidFill>
                <a:latin typeface="方正小标宋简体"/>
              </a:rPr>
              <a:t>Damia  ·  V15.6  ·  2026.06.21</a:t>
            </a:r>
          </a:p>
        </p:txBody>
      </p:sp>
      <p:pic>
        <p:nvPicPr>
          <p:cNvPr id="12" name="Picture 11" descr="toknow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54864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